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471613"/>
            <a:ext cx="562744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5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VITIS-RDA-VERSAL · 內部技術分享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145983"/>
            <a:ext cx="1471612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spc="-315" kern="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315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高階講解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143000" y="4698683"/>
            <a:ext cx="13735050" cy="1177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 AMD/Xilinx Versal 異質運算架構： PS 指揮 · PL 搬運 · </a:t>
            </a:r>
            <a:pPr algn="l" indent="0" marL="0">
              <a:lnSpc>
                <a:spcPct val="130000"/>
              </a:lnSpc>
              <a:buNone/>
            </a:pPr>
            <a:r>
              <a:rPr lang="en-US" sz="34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計算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8621078"/>
            <a:ext cx="254508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8907780"/>
            <a:ext cx="254508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× 1024 2D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73880" y="8621078"/>
            <a:ext cx="339059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73880" y="8907780"/>
            <a:ext cx="339059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Versal VCK190 / XCVC1902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27720" y="8621078"/>
            <a:ext cx="296726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27720" y="8907780"/>
            <a:ext cx="296726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23× (160 ms → 6.8 ms)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35868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SUMMARY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654082" y="914400"/>
            <a:ext cx="268428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核心結論 · KEY TAKEAWAYS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8781" y="1030605"/>
            <a:ext cx="11656219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3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看完這份簡報，你會帶走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四件事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235101"/>
            <a:ext cx="7867650" cy="3991928"/>
          </a:xfrm>
          <a:prstGeom prst="roundRect">
            <a:avLst>
              <a:gd name="adj" fmla="val 3340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7820" y="2661821"/>
            <a:ext cx="71461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84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07820" y="3366671"/>
            <a:ext cx="7146151" cy="54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= 2D 向量處理器陣列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607820" y="4003893"/>
            <a:ext cx="714615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內建於 Versal 晶片，由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個 Tile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組成。每個 Tile 是一顆 VLIW SIMD vector processor，配備 32 KB local SRAM。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607820" y="5289768"/>
            <a:ext cx="693801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1" name="Text 9"/>
          <p:cNvSpPr/>
          <p:nvPr/>
        </p:nvSpPr>
        <p:spPr>
          <a:xfrm>
            <a:off x="1607820" y="5468838"/>
            <a:ext cx="71461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·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XCVC1902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on VCK190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77350" y="2235101"/>
            <a:ext cx="7867650" cy="3991928"/>
          </a:xfrm>
          <a:prstGeom prst="roundRect">
            <a:avLst>
              <a:gd name="adj" fmla="val 3340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2170" y="2661821"/>
            <a:ext cx="71461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84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742170" y="3366671"/>
            <a:ext cx="7146151" cy="54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異質系統三層分工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9742170" y="4003893"/>
            <a:ext cx="714615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下命令、PL 搬資料、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算數學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。資料以 DDR 為中心流動，三層各司其職。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742170" y="5289768"/>
            <a:ext cx="693801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7" name="Text 15"/>
          <p:cNvSpPr/>
          <p:nvPr/>
        </p:nvSpPr>
        <p:spPr>
          <a:xfrm>
            <a:off x="9742170" y="5468838"/>
            <a:ext cx="71461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· PL · AIE · System Config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6493729"/>
            <a:ext cx="7867650" cy="3991928"/>
          </a:xfrm>
          <a:prstGeom prst="roundRect">
            <a:avLst>
              <a:gd name="adj" fmla="val 3340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7820" y="6920449"/>
            <a:ext cx="71461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84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607820" y="7625299"/>
            <a:ext cx="7146151" cy="54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效能實證 </a:t>
            </a:r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~23× </a:t>
            </a:r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607820" y="8262521"/>
            <a:ext cx="714615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+ Batching + PL Scheduling 三層優化疊加，2D FFT 從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ms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降至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 ms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607820" y="9548396"/>
            <a:ext cx="693801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3" name="Text 21"/>
          <p:cNvSpPr/>
          <p:nvPr/>
        </p:nvSpPr>
        <p:spPr>
          <a:xfrm>
            <a:off x="1607820" y="9727466"/>
            <a:ext cx="71461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1 → 2 → 3 · 累積優化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77350" y="6493729"/>
            <a:ext cx="7867650" cy="3991928"/>
          </a:xfrm>
          <a:prstGeom prst="roundRect">
            <a:avLst>
              <a:gd name="adj" fmla="val 3340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2170" y="6920449"/>
            <a:ext cx="71461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84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742170" y="7625299"/>
            <a:ext cx="7146151" cy="54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邊緣端即時處理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9742170" y="8262521"/>
            <a:ext cx="714615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SAR、通訊基站等裝置的海量感測資料在板端第一時間消化，釋放後端傳輸頻寬與運算力。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742170" y="9548396"/>
            <a:ext cx="693801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9" name="Text 27"/>
          <p:cNvSpPr/>
          <p:nvPr/>
        </p:nvSpPr>
        <p:spPr>
          <a:xfrm>
            <a:off x="9742170" y="9727466"/>
            <a:ext cx="71461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On-board Processing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0842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/ HARDWARE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3003828" y="914400"/>
            <a:ext cx="283966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硬體層級 · 由外到內的三個尺度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89380" y="1030605"/>
            <a:ext cx="1115562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2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先把名詞搞清楚：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 → 晶片 → 子系統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714500" y="2374820"/>
            <a:ext cx="8382000" cy="6858000"/>
          </a:xfrm>
          <a:prstGeom prst="roundRect">
            <a:avLst>
              <a:gd name="adj" fmla="val 2222"/>
            </a:avLst>
          </a:prstGeom>
          <a:solidFill>
            <a:srgbClr val="141210"/>
          </a:solidFill>
          <a:ln w="19050">
            <a:solidFill>
              <a:srgbClr val="6E68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00250" y="2603420"/>
            <a:ext cx="85344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38350" y="8403194"/>
            <a:ext cx="1495246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8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VCK190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762250" y="3422570"/>
            <a:ext cx="6286500" cy="4762500"/>
          </a:xfrm>
          <a:prstGeom prst="roundRect">
            <a:avLst>
              <a:gd name="adj" fmla="val 3200"/>
            </a:avLst>
          </a:prstGeom>
          <a:solidFill>
            <a:srgbClr val="1D1A17"/>
          </a:solidFill>
          <a:ln w="19050">
            <a:solidFill>
              <a:srgbClr val="8A4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8000" y="3651170"/>
            <a:ext cx="1319808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E8987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CHIP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86100" y="7410687"/>
            <a:ext cx="1778556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XCVC1902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3905250" y="4565570"/>
            <a:ext cx="4000500" cy="2476500"/>
          </a:xfrm>
          <a:prstGeom prst="roundRect">
            <a:avLst>
              <a:gd name="adj" fmla="val 6154"/>
            </a:avLst>
          </a:prstGeom>
          <a:solidFill>
            <a:srgbClr val="2A1810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57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91000" y="4794170"/>
            <a:ext cx="163068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5507" y="5417105"/>
            <a:ext cx="916186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200" b="1" spc="-84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10858500" y="4736545"/>
            <a:ext cx="57150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3036332"/>
            <a:ext cx="58864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開發板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58500" y="3342084"/>
            <a:ext cx="5886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24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VCK190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spc="-24" kern="0" dirty="0">
                <a:solidFill>
                  <a:srgbClr val="D97757"/>
                </a:solidFill>
                <a:highlight>
                  <a:srgbClr val="1D1A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Board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858500" y="3841195"/>
            <a:ext cx="5886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實體評估板，包含電源、風扇與所有周邊介面，如同電腦主機板。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858500" y="6653926"/>
            <a:ext cx="57150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0" y="4953714"/>
            <a:ext cx="58864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SOC 晶片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58500" y="5259466"/>
            <a:ext cx="5886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24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XCVC1902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spc="-24" kern="0" dirty="0">
                <a:solidFill>
                  <a:srgbClr val="D97757"/>
                </a:solidFill>
                <a:highlight>
                  <a:srgbClr val="1D1A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Versal ACAP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858500" y="5758576"/>
            <a:ext cx="5886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焊在板上的那顆晶片。Versal ACAP 是這顆晶片的家族系列統稱（如同 Intel Core i7）。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58500" y="6871097"/>
            <a:ext cx="58864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晶片內部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858500" y="7176850"/>
            <a:ext cx="588645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24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spc="-24" kern="0" dirty="0">
                <a:solidFill>
                  <a:srgbClr val="D97757"/>
                </a:solidFill>
                <a:highlight>
                  <a:srgbClr val="1D1A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858500" y="7675959"/>
            <a:ext cx="5886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晶片內部三大子系統之一（另有 PS 與 PL）。由 400 個微型運算單元（Tile）組成的 2D 計算陣列。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2421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/ ACAP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537520" y="914400"/>
            <a:ext cx="456322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COMPUTE ACCELERATION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96435" y="1030605"/>
            <a:ext cx="9948565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3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一顆 Versal ACAP =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+ PL + AIE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235101"/>
            <a:ext cx="1373505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內部同時整合了 CPU、FPGA、AI 陣列三種運算資源，AMD 用 ACAP 這個新詞與傳統 SoC 區隔。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3675280"/>
            <a:ext cx="16002000" cy="5974080"/>
          </a:xfrm>
          <a:prstGeom prst="roundRect">
            <a:avLst>
              <a:gd name="adj" fmla="val 2551"/>
            </a:avLst>
          </a:prstGeom>
          <a:solidFill>
            <a:srgbClr val="141210"/>
          </a:solidFill>
          <a:ln w="11430">
            <a:solidFill>
              <a:srgbClr val="3A34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7830" y="4220110"/>
            <a:ext cx="4767560" cy="4884420"/>
          </a:xfrm>
          <a:prstGeom prst="roundRect">
            <a:avLst>
              <a:gd name="adj" fmla="val 2797"/>
            </a:avLst>
          </a:prstGeom>
          <a:solidFill>
            <a:srgbClr val="141210"/>
          </a:solidFill>
          <a:ln w="11430">
            <a:solidFill>
              <a:srgbClr val="3A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2160" y="4612542"/>
            <a:ext cx="418066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89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SYSTEM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042160" y="4937343"/>
            <a:ext cx="41806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216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2042160" y="5699343"/>
            <a:ext cx="4180667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b="1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Cortex-A72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2042160" y="6340376"/>
            <a:ext cx="4180667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子系統，Linux 跑在這上面。承擔流程控制與系統管理。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42160" y="7691972"/>
            <a:ext cx="40589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4" name="Text 12"/>
          <p:cNvSpPr/>
          <p:nvPr/>
        </p:nvSpPr>
        <p:spPr>
          <a:xfrm>
            <a:off x="2042160" y="7924384"/>
            <a:ext cx="990600" cy="33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適合做：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42160" y="8297763"/>
            <a:ext cx="418066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1" kern="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控制流程 / I/O / 調度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760190" y="4220110"/>
            <a:ext cx="4767560" cy="4884420"/>
          </a:xfrm>
          <a:prstGeom prst="roundRect">
            <a:avLst>
              <a:gd name="adj" fmla="val 2797"/>
            </a:avLst>
          </a:prstGeom>
          <a:solidFill>
            <a:srgbClr val="141210"/>
          </a:solidFill>
          <a:ln w="11430">
            <a:solidFill>
              <a:srgbClr val="3A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520" y="4612542"/>
            <a:ext cx="418066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89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PROGRAMMABLE LOGIC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14520" y="4937343"/>
            <a:ext cx="41806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216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7114520" y="5699343"/>
            <a:ext cx="4180667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b="1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Fabric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114520" y="6340376"/>
            <a:ext cx="4180667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傳統 FPGA：LUT + FF + BRAM + DSP slice，硬體層客製化的資料路徑。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14520" y="7277635"/>
            <a:ext cx="40589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2" name="Text 20"/>
          <p:cNvSpPr/>
          <p:nvPr/>
        </p:nvSpPr>
        <p:spPr>
          <a:xfrm>
            <a:off x="7114520" y="7510046"/>
            <a:ext cx="990600" cy="33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適合做：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14520" y="7883426"/>
            <a:ext cx="418066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1" kern="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datapath / I/O / bit-level ops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832551" y="4220110"/>
            <a:ext cx="4767620" cy="4884420"/>
          </a:xfrm>
          <a:prstGeom prst="roundRect">
            <a:avLst>
              <a:gd name="adj" fmla="val 2797"/>
            </a:avLst>
          </a:prstGeom>
          <a:solidFill>
            <a:srgbClr val="2A1810"/>
          </a:solidFill>
          <a:ln w="11430">
            <a:solidFill>
              <a:srgbClr val="D97757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57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186881" y="4612542"/>
            <a:ext cx="4180729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89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186881" y="4937343"/>
            <a:ext cx="418072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216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12186881" y="5699343"/>
            <a:ext cx="4180729" cy="507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b="1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Processor Array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2186881" y="6340376"/>
            <a:ext cx="4180729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本報告主角。400 個 VLIW SIMD tile 組成的 2D 計算陣列。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186881" y="7691972"/>
            <a:ext cx="405896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186881" y="7924384"/>
            <a:ext cx="990600" cy="33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適合做：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86881" y="8297763"/>
            <a:ext cx="418072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spc="-11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高吞吐 / 可向量化 DSP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35868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/ ROLES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654082" y="914400"/>
            <a:ext cx="2924401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三層分工 · WHY THIS SPLIT?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1906" y="1030605"/>
            <a:ext cx="11423095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3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為什麼不全給 PL 算？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因為 AIE 算數學更快、更省功耗。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235101"/>
            <a:ext cx="1373505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也能做數學運算，但能效遠不如 AIE。把純數學丟給 AIE，PL 專心發揮它真正的強項：客製化資料路徑與位址邏輯。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3675280"/>
            <a:ext cx="160020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354949"/>
            <a:ext cx="19050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9" name="Shape 7"/>
          <p:cNvSpPr/>
          <p:nvPr/>
        </p:nvSpPr>
        <p:spPr>
          <a:xfrm>
            <a:off x="3048000" y="4354949"/>
            <a:ext cx="469898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0" name="Text 8"/>
          <p:cNvSpPr/>
          <p:nvPr/>
        </p:nvSpPr>
        <p:spPr>
          <a:xfrm>
            <a:off x="3276600" y="3873401"/>
            <a:ext cx="4382750" cy="32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6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內容 · WHAT'S INSIDE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46980" y="4354949"/>
            <a:ext cx="469898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2" name="Text 10"/>
          <p:cNvSpPr/>
          <p:nvPr/>
        </p:nvSpPr>
        <p:spPr>
          <a:xfrm>
            <a:off x="7975580" y="3873401"/>
            <a:ext cx="4382750" cy="32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6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擅長 · BEST AT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445960" y="4354949"/>
            <a:ext cx="469904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4" name="Text 12"/>
          <p:cNvSpPr/>
          <p:nvPr/>
        </p:nvSpPr>
        <p:spPr>
          <a:xfrm>
            <a:off x="12674560" y="3873401"/>
            <a:ext cx="4382811" cy="329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6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本案例任務 · THIS PROJECT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4362569"/>
            <a:ext cx="1905000" cy="174367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6098619"/>
            <a:ext cx="19050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0380" y="4362569"/>
            <a:ext cx="9525" cy="174367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650521"/>
            <a:ext cx="151638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313462"/>
            <a:ext cx="1516380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System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048000" y="4362569"/>
            <a:ext cx="4698980" cy="174367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48000" y="6098619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2" name="Text 20"/>
          <p:cNvSpPr/>
          <p:nvPr/>
        </p:nvSpPr>
        <p:spPr>
          <a:xfrm>
            <a:off x="3276600" y="4901982"/>
            <a:ext cx="3541251" cy="384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Cortex-A72 跑 Linux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3276600" y="5285840"/>
            <a:ext cx="436903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XRT runtime API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746980" y="4362569"/>
            <a:ext cx="4698980" cy="174367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46980" y="6098619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6" name="Text 24"/>
          <p:cNvSpPr/>
          <p:nvPr/>
        </p:nvSpPr>
        <p:spPr>
          <a:xfrm>
            <a:off x="7975580" y="4629269"/>
            <a:ext cx="4382750" cy="124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流程控制 / I/O / 任務排程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445960" y="4362569"/>
            <a:ext cx="4699040" cy="174367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445960" y="6098619"/>
            <a:ext cx="469904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9" name="Text 27"/>
          <p:cNvSpPr/>
          <p:nvPr/>
        </p:nvSpPr>
        <p:spPr>
          <a:xfrm>
            <a:off x="12674560" y="4629269"/>
            <a:ext cx="4382811" cy="124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下命令：載入 .xclbin、啟動 graph、觸發 PL kernel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6106239"/>
            <a:ext cx="1905000" cy="1743670"/>
          </a:xfrm>
          <a:prstGeom prst="rect">
            <a:avLst/>
          </a:prstGeom>
          <a:solidFill>
            <a:srgbClr val="D97757">
              <a:alpha val="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7842289"/>
            <a:ext cx="19050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2" name="Shape 30"/>
          <p:cNvSpPr/>
          <p:nvPr/>
        </p:nvSpPr>
        <p:spPr>
          <a:xfrm>
            <a:off x="3040380" y="6106239"/>
            <a:ext cx="9525" cy="1743670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6394191"/>
            <a:ext cx="151638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7057132"/>
            <a:ext cx="1516380" cy="53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Programmable Logic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048000" y="6106239"/>
            <a:ext cx="4698980" cy="1743670"/>
          </a:xfrm>
          <a:prstGeom prst="rect">
            <a:avLst/>
          </a:prstGeom>
          <a:solidFill>
            <a:srgbClr val="D97757">
              <a:alpha val="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048000" y="7842289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7" name="Text 35"/>
          <p:cNvSpPr/>
          <p:nvPr/>
        </p:nvSpPr>
        <p:spPr>
          <a:xfrm>
            <a:off x="3276600" y="6645652"/>
            <a:ext cx="1691224" cy="384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fabric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3276600" y="7029510"/>
            <a:ext cx="4369034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/ FF / BRAM / DSP slice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746980" y="6106239"/>
            <a:ext cx="4698980" cy="1743670"/>
          </a:xfrm>
          <a:prstGeom prst="rect">
            <a:avLst/>
          </a:prstGeom>
          <a:solidFill>
            <a:srgbClr val="D97757">
              <a:alpha val="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746980" y="7842289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41" name="Text 39"/>
          <p:cNvSpPr/>
          <p:nvPr/>
        </p:nvSpPr>
        <p:spPr>
          <a:xfrm>
            <a:off x="7975580" y="6372939"/>
            <a:ext cx="4382750" cy="124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datapath / 位址邏輯 / bit-level ops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445960" y="6106239"/>
            <a:ext cx="4699040" cy="1743670"/>
          </a:xfrm>
          <a:prstGeom prst="rect">
            <a:avLst/>
          </a:prstGeom>
          <a:solidFill>
            <a:srgbClr val="D97757">
              <a:alpha val="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2445960" y="7842289"/>
            <a:ext cx="469904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44" name="Text 42"/>
          <p:cNvSpPr/>
          <p:nvPr/>
        </p:nvSpPr>
        <p:spPr>
          <a:xfrm>
            <a:off x="12674560" y="6372939"/>
            <a:ext cx="4382811" cy="124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搬資料：mm2s / s2mm / strided_mm2s 邊讀邊轉置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43000" y="7849909"/>
            <a:ext cx="1905000" cy="1522690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43000" y="9364980"/>
            <a:ext cx="19050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04038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379220" y="8151675"/>
            <a:ext cx="150876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79220" y="8814613"/>
            <a:ext cx="150876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048000" y="7849909"/>
            <a:ext cx="4698980" cy="1522690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048000" y="9364980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53" name="Shape 51"/>
          <p:cNvSpPr/>
          <p:nvPr/>
        </p:nvSpPr>
        <p:spPr>
          <a:xfrm>
            <a:off x="304800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73936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3284220" y="8137861"/>
            <a:ext cx="4353336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b="1" spc="-25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VLIW SIMD vector processor array</a:t>
            </a:r>
            <a:endParaRPr lang="en-US" sz="2550" dirty="0"/>
          </a:p>
        </p:txBody>
      </p:sp>
      <p:sp>
        <p:nvSpPr>
          <p:cNvPr id="56" name="Shape 54"/>
          <p:cNvSpPr/>
          <p:nvPr/>
        </p:nvSpPr>
        <p:spPr>
          <a:xfrm>
            <a:off x="7746980" y="7849909"/>
            <a:ext cx="4698980" cy="1522690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46980" y="9364980"/>
            <a:ext cx="469898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58" name="Shape 56"/>
          <p:cNvSpPr/>
          <p:nvPr/>
        </p:nvSpPr>
        <p:spPr>
          <a:xfrm>
            <a:off x="774698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243834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983200" y="8116609"/>
            <a:ext cx="4367510" cy="1019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高吞吐 / 可向量化 DSP 運算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2445960" y="7849909"/>
            <a:ext cx="4699040" cy="1522690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2445960" y="9364980"/>
            <a:ext cx="469904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63" name="Shape 61"/>
          <p:cNvSpPr/>
          <p:nvPr/>
        </p:nvSpPr>
        <p:spPr>
          <a:xfrm>
            <a:off x="1244596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7137380" y="7849909"/>
            <a:ext cx="9525" cy="1522690"/>
          </a:xfrm>
          <a:prstGeom prst="rect">
            <a:avLst/>
          </a:prstGeom>
          <a:solidFill>
            <a:srgbClr val="D97757">
              <a:alpha val="3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2682180" y="8116609"/>
            <a:ext cx="4367571" cy="1019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算數學：1024-pt FFT + Twiddle multiply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82505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/ AI ENGINE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3120450" y="914400"/>
            <a:ext cx="27549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AIE? · 由內看一次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23729" y="1030605"/>
            <a:ext cx="11121271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3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是一座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平行運算的流水線工廠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1957864"/>
            <a:ext cx="6034838" cy="372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120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4000" dirty="0"/>
          </a:p>
        </p:txBody>
      </p:sp>
      <p:sp>
        <p:nvSpPr>
          <p:cNvPr id="7" name="Text 5"/>
          <p:cNvSpPr/>
          <p:nvPr/>
        </p:nvSpPr>
        <p:spPr>
          <a:xfrm>
            <a:off x="1143000" y="5268755"/>
            <a:ext cx="8120419" cy="313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" spc="10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TILES · ON XCVC1902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5772627"/>
            <a:ext cx="7883902" cy="3328511"/>
          </a:xfrm>
          <a:prstGeom prst="roundRect">
            <a:avLst>
              <a:gd name="adj" fmla="val 3434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3020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651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" name="Shape 9"/>
          <p:cNvSpPr/>
          <p:nvPr/>
        </p:nvSpPr>
        <p:spPr>
          <a:xfrm>
            <a:off x="2062282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41912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21543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1174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" name="Shape 13"/>
          <p:cNvSpPr/>
          <p:nvPr/>
        </p:nvSpPr>
        <p:spPr>
          <a:xfrm>
            <a:off x="3580805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" name="Shape 14"/>
          <p:cNvSpPr/>
          <p:nvPr/>
        </p:nvSpPr>
        <p:spPr>
          <a:xfrm>
            <a:off x="3960436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0066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19697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328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78959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8589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2" name="Shape 20"/>
          <p:cNvSpPr/>
          <p:nvPr/>
        </p:nvSpPr>
        <p:spPr>
          <a:xfrm>
            <a:off x="6238220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17851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7482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77113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56743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6374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8" name="Shape 26"/>
          <p:cNvSpPr/>
          <p:nvPr/>
        </p:nvSpPr>
        <p:spPr>
          <a:xfrm>
            <a:off x="8516005" y="5932645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3020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0" name="Shape 28"/>
          <p:cNvSpPr/>
          <p:nvPr/>
        </p:nvSpPr>
        <p:spPr>
          <a:xfrm>
            <a:off x="1682651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1" name="Shape 29"/>
          <p:cNvSpPr/>
          <p:nvPr/>
        </p:nvSpPr>
        <p:spPr>
          <a:xfrm>
            <a:off x="2062282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2" name="Shape 30"/>
          <p:cNvSpPr/>
          <p:nvPr/>
        </p:nvSpPr>
        <p:spPr>
          <a:xfrm>
            <a:off x="2441912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3" name="Shape 31"/>
          <p:cNvSpPr/>
          <p:nvPr/>
        </p:nvSpPr>
        <p:spPr>
          <a:xfrm>
            <a:off x="2821543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1174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5" name="Shape 33"/>
          <p:cNvSpPr/>
          <p:nvPr/>
        </p:nvSpPr>
        <p:spPr>
          <a:xfrm>
            <a:off x="3580805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6" name="Shape 34"/>
          <p:cNvSpPr/>
          <p:nvPr/>
        </p:nvSpPr>
        <p:spPr>
          <a:xfrm>
            <a:off x="3960436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7" name="Shape 35"/>
          <p:cNvSpPr/>
          <p:nvPr/>
        </p:nvSpPr>
        <p:spPr>
          <a:xfrm>
            <a:off x="4340066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8" name="Shape 36"/>
          <p:cNvSpPr/>
          <p:nvPr/>
        </p:nvSpPr>
        <p:spPr>
          <a:xfrm>
            <a:off x="4719697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39" name="Shape 37"/>
          <p:cNvSpPr/>
          <p:nvPr/>
        </p:nvSpPr>
        <p:spPr>
          <a:xfrm>
            <a:off x="5099328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0" name="Shape 38"/>
          <p:cNvSpPr/>
          <p:nvPr/>
        </p:nvSpPr>
        <p:spPr>
          <a:xfrm>
            <a:off x="5478959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1" name="Shape 39"/>
          <p:cNvSpPr/>
          <p:nvPr/>
        </p:nvSpPr>
        <p:spPr>
          <a:xfrm>
            <a:off x="5858589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2" name="Shape 40"/>
          <p:cNvSpPr/>
          <p:nvPr/>
        </p:nvSpPr>
        <p:spPr>
          <a:xfrm>
            <a:off x="6238220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3" name="Shape 41"/>
          <p:cNvSpPr/>
          <p:nvPr/>
        </p:nvSpPr>
        <p:spPr>
          <a:xfrm>
            <a:off x="6617851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4" name="Shape 42"/>
          <p:cNvSpPr/>
          <p:nvPr/>
        </p:nvSpPr>
        <p:spPr>
          <a:xfrm>
            <a:off x="6997482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5" name="Shape 43"/>
          <p:cNvSpPr/>
          <p:nvPr/>
        </p:nvSpPr>
        <p:spPr>
          <a:xfrm>
            <a:off x="7377113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6" name="Shape 44"/>
          <p:cNvSpPr/>
          <p:nvPr/>
        </p:nvSpPr>
        <p:spPr>
          <a:xfrm>
            <a:off x="7756743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7" name="Shape 45"/>
          <p:cNvSpPr/>
          <p:nvPr/>
        </p:nvSpPr>
        <p:spPr>
          <a:xfrm>
            <a:off x="8136374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8" name="Shape 46"/>
          <p:cNvSpPr/>
          <p:nvPr/>
        </p:nvSpPr>
        <p:spPr>
          <a:xfrm>
            <a:off x="8516005" y="6312277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49" name="Shape 47"/>
          <p:cNvSpPr/>
          <p:nvPr/>
        </p:nvSpPr>
        <p:spPr>
          <a:xfrm>
            <a:off x="1303020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0" name="Shape 48"/>
          <p:cNvSpPr/>
          <p:nvPr/>
        </p:nvSpPr>
        <p:spPr>
          <a:xfrm>
            <a:off x="1682651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1" name="Shape 49"/>
          <p:cNvSpPr/>
          <p:nvPr/>
        </p:nvSpPr>
        <p:spPr>
          <a:xfrm>
            <a:off x="2062282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2" name="Shape 50"/>
          <p:cNvSpPr/>
          <p:nvPr/>
        </p:nvSpPr>
        <p:spPr>
          <a:xfrm>
            <a:off x="2441912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21543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4" name="Shape 52"/>
          <p:cNvSpPr/>
          <p:nvPr/>
        </p:nvSpPr>
        <p:spPr>
          <a:xfrm>
            <a:off x="3201174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5" name="Shape 53"/>
          <p:cNvSpPr/>
          <p:nvPr/>
        </p:nvSpPr>
        <p:spPr>
          <a:xfrm>
            <a:off x="3580805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6" name="Shape 54"/>
          <p:cNvSpPr/>
          <p:nvPr/>
        </p:nvSpPr>
        <p:spPr>
          <a:xfrm>
            <a:off x="3960436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7" name="Shape 55"/>
          <p:cNvSpPr/>
          <p:nvPr/>
        </p:nvSpPr>
        <p:spPr>
          <a:xfrm>
            <a:off x="4340066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8" name="Shape 56"/>
          <p:cNvSpPr/>
          <p:nvPr/>
        </p:nvSpPr>
        <p:spPr>
          <a:xfrm>
            <a:off x="4719697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59" name="Shape 57"/>
          <p:cNvSpPr/>
          <p:nvPr/>
        </p:nvSpPr>
        <p:spPr>
          <a:xfrm>
            <a:off x="5099328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0" name="Shape 58"/>
          <p:cNvSpPr/>
          <p:nvPr/>
        </p:nvSpPr>
        <p:spPr>
          <a:xfrm>
            <a:off x="5478959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1" name="Shape 59"/>
          <p:cNvSpPr/>
          <p:nvPr/>
        </p:nvSpPr>
        <p:spPr>
          <a:xfrm>
            <a:off x="5858589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2" name="Shape 60"/>
          <p:cNvSpPr/>
          <p:nvPr/>
        </p:nvSpPr>
        <p:spPr>
          <a:xfrm>
            <a:off x="6238220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3" name="Shape 61"/>
          <p:cNvSpPr/>
          <p:nvPr/>
        </p:nvSpPr>
        <p:spPr>
          <a:xfrm>
            <a:off x="6617851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4" name="Shape 62"/>
          <p:cNvSpPr/>
          <p:nvPr/>
        </p:nvSpPr>
        <p:spPr>
          <a:xfrm>
            <a:off x="6997482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5" name="Shape 63"/>
          <p:cNvSpPr/>
          <p:nvPr/>
        </p:nvSpPr>
        <p:spPr>
          <a:xfrm>
            <a:off x="7377113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6" name="Shape 64"/>
          <p:cNvSpPr/>
          <p:nvPr/>
        </p:nvSpPr>
        <p:spPr>
          <a:xfrm>
            <a:off x="7756743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7" name="Shape 65"/>
          <p:cNvSpPr/>
          <p:nvPr/>
        </p:nvSpPr>
        <p:spPr>
          <a:xfrm>
            <a:off x="8136374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8" name="Shape 66"/>
          <p:cNvSpPr/>
          <p:nvPr/>
        </p:nvSpPr>
        <p:spPr>
          <a:xfrm>
            <a:off x="8516005" y="6691910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69" name="Shape 67"/>
          <p:cNvSpPr/>
          <p:nvPr/>
        </p:nvSpPr>
        <p:spPr>
          <a:xfrm>
            <a:off x="1303020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0" name="Shape 68"/>
          <p:cNvSpPr/>
          <p:nvPr/>
        </p:nvSpPr>
        <p:spPr>
          <a:xfrm>
            <a:off x="1682651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1" name="Shape 69"/>
          <p:cNvSpPr/>
          <p:nvPr/>
        </p:nvSpPr>
        <p:spPr>
          <a:xfrm>
            <a:off x="2062282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2" name="Shape 70"/>
          <p:cNvSpPr/>
          <p:nvPr/>
        </p:nvSpPr>
        <p:spPr>
          <a:xfrm>
            <a:off x="2441912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3" name="Shape 71"/>
          <p:cNvSpPr/>
          <p:nvPr/>
        </p:nvSpPr>
        <p:spPr>
          <a:xfrm>
            <a:off x="2821543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4" name="Shape 72"/>
          <p:cNvSpPr/>
          <p:nvPr/>
        </p:nvSpPr>
        <p:spPr>
          <a:xfrm>
            <a:off x="3201174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5" name="Shape 73"/>
          <p:cNvSpPr/>
          <p:nvPr/>
        </p:nvSpPr>
        <p:spPr>
          <a:xfrm>
            <a:off x="3580805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6" name="Shape 74"/>
          <p:cNvSpPr/>
          <p:nvPr/>
        </p:nvSpPr>
        <p:spPr>
          <a:xfrm>
            <a:off x="3960436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7" name="Shape 75"/>
          <p:cNvSpPr/>
          <p:nvPr/>
        </p:nvSpPr>
        <p:spPr>
          <a:xfrm>
            <a:off x="4340066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8" name="Shape 76"/>
          <p:cNvSpPr/>
          <p:nvPr/>
        </p:nvSpPr>
        <p:spPr>
          <a:xfrm>
            <a:off x="4719697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79" name="Shape 77"/>
          <p:cNvSpPr/>
          <p:nvPr/>
        </p:nvSpPr>
        <p:spPr>
          <a:xfrm>
            <a:off x="5099328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0" name="Shape 78"/>
          <p:cNvSpPr/>
          <p:nvPr/>
        </p:nvSpPr>
        <p:spPr>
          <a:xfrm>
            <a:off x="5478959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1" name="Shape 79"/>
          <p:cNvSpPr/>
          <p:nvPr/>
        </p:nvSpPr>
        <p:spPr>
          <a:xfrm>
            <a:off x="5858589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2" name="Shape 80"/>
          <p:cNvSpPr/>
          <p:nvPr/>
        </p:nvSpPr>
        <p:spPr>
          <a:xfrm>
            <a:off x="6238220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3" name="Shape 81"/>
          <p:cNvSpPr/>
          <p:nvPr/>
        </p:nvSpPr>
        <p:spPr>
          <a:xfrm>
            <a:off x="6617851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4" name="Shape 82"/>
          <p:cNvSpPr/>
          <p:nvPr/>
        </p:nvSpPr>
        <p:spPr>
          <a:xfrm>
            <a:off x="6997482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5" name="Shape 83"/>
          <p:cNvSpPr/>
          <p:nvPr/>
        </p:nvSpPr>
        <p:spPr>
          <a:xfrm>
            <a:off x="7377113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6" name="Shape 84"/>
          <p:cNvSpPr/>
          <p:nvPr/>
        </p:nvSpPr>
        <p:spPr>
          <a:xfrm>
            <a:off x="7756743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7" name="Shape 85"/>
          <p:cNvSpPr/>
          <p:nvPr/>
        </p:nvSpPr>
        <p:spPr>
          <a:xfrm>
            <a:off x="8136374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8" name="Shape 86"/>
          <p:cNvSpPr/>
          <p:nvPr/>
        </p:nvSpPr>
        <p:spPr>
          <a:xfrm>
            <a:off x="8516005" y="7071538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89" name="Shape 87"/>
          <p:cNvSpPr/>
          <p:nvPr/>
        </p:nvSpPr>
        <p:spPr>
          <a:xfrm>
            <a:off x="1303020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0" name="Shape 88"/>
          <p:cNvSpPr/>
          <p:nvPr/>
        </p:nvSpPr>
        <p:spPr>
          <a:xfrm>
            <a:off x="1682651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1" name="Shape 89"/>
          <p:cNvSpPr/>
          <p:nvPr/>
        </p:nvSpPr>
        <p:spPr>
          <a:xfrm>
            <a:off x="2062282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2" name="Shape 90"/>
          <p:cNvSpPr/>
          <p:nvPr/>
        </p:nvSpPr>
        <p:spPr>
          <a:xfrm>
            <a:off x="2441912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3" name="Shape 91"/>
          <p:cNvSpPr/>
          <p:nvPr/>
        </p:nvSpPr>
        <p:spPr>
          <a:xfrm>
            <a:off x="2821543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4" name="Shape 92"/>
          <p:cNvSpPr/>
          <p:nvPr/>
        </p:nvSpPr>
        <p:spPr>
          <a:xfrm>
            <a:off x="3201174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5" name="Shape 93"/>
          <p:cNvSpPr/>
          <p:nvPr/>
        </p:nvSpPr>
        <p:spPr>
          <a:xfrm>
            <a:off x="3580805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6" name="Shape 94"/>
          <p:cNvSpPr/>
          <p:nvPr/>
        </p:nvSpPr>
        <p:spPr>
          <a:xfrm>
            <a:off x="3960436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7" name="Shape 95"/>
          <p:cNvSpPr/>
          <p:nvPr/>
        </p:nvSpPr>
        <p:spPr>
          <a:xfrm>
            <a:off x="4340066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8" name="Shape 96"/>
          <p:cNvSpPr/>
          <p:nvPr/>
        </p:nvSpPr>
        <p:spPr>
          <a:xfrm>
            <a:off x="4719697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99" name="Shape 97"/>
          <p:cNvSpPr/>
          <p:nvPr/>
        </p:nvSpPr>
        <p:spPr>
          <a:xfrm>
            <a:off x="5099328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0" name="Shape 98"/>
          <p:cNvSpPr/>
          <p:nvPr/>
        </p:nvSpPr>
        <p:spPr>
          <a:xfrm>
            <a:off x="5478959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1" name="Shape 99"/>
          <p:cNvSpPr/>
          <p:nvPr/>
        </p:nvSpPr>
        <p:spPr>
          <a:xfrm>
            <a:off x="5858589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238220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617851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997482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377113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756743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136374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16005" y="745117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303020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682651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062282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441912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821543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3201174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3580805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960436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4340066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4719697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099328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478959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8589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6238220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6617851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997482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377113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756743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136374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516005" y="7830799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303020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682651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062282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441912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2821543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3201174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3580805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3960436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4340066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4719697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5099328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5478959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5858589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6238220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6617851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997482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77113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756743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136374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8516005" y="8210431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303020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682651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062282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441912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821543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201174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580805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960436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4340066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4719697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5099328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D97757">
              <a:alpha val="85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5478959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5858589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6238220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6617851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6997482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7377113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7756743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136374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516005" y="8590064"/>
            <a:ext cx="351056" cy="351056"/>
          </a:xfrm>
          <a:prstGeom prst="roundRect">
            <a:avLst>
              <a:gd name="adj" fmla="val 5426"/>
            </a:avLst>
          </a:prstGeom>
          <a:solidFill>
            <a:srgbClr val="26221E"/>
          </a:solidFill>
          <a:ln/>
        </p:spPr>
      </p:sp>
      <p:sp>
        <p:nvSpPr>
          <p:cNvPr id="169" name="Text 167"/>
          <p:cNvSpPr/>
          <p:nvPr/>
        </p:nvSpPr>
        <p:spPr>
          <a:xfrm>
            <a:off x="9636502" y="3280172"/>
            <a:ext cx="7733753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</a:t>
            </a:r>
            <a:pPr algn="l" indent="0" marL="0">
              <a:lnSpc>
                <a:spcPct val="135000"/>
              </a:lnSpc>
              <a:buNone/>
            </a:pPr>
            <a:r>
              <a:rPr lang="en-US" sz="2550" b="1" spc="-25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數百個微型運算單元（Tile）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構成的 2D 陣列。每個 Tile 本質上是一顆 </a:t>
            </a:r>
            <a:pPr algn="l" indent="0" marL="0">
              <a:lnSpc>
                <a:spcPct val="135000"/>
              </a:lnSpc>
              <a:buNone/>
            </a:pPr>
            <a:r>
              <a:rPr lang="en-US" sz="2550" b="1" spc="-25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極度擅長平行數學運算的微型 DSP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，透過晶片內網路互相串接成流水線。</a:t>
            </a:r>
            <a:endParaRPr lang="en-US" sz="2550" dirty="0"/>
          </a:p>
        </p:txBody>
      </p:sp>
      <p:sp>
        <p:nvSpPr>
          <p:cNvPr id="170" name="Shape 168"/>
          <p:cNvSpPr/>
          <p:nvPr/>
        </p:nvSpPr>
        <p:spPr>
          <a:xfrm>
            <a:off x="9636502" y="5310901"/>
            <a:ext cx="7508498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71" name="Text 169"/>
          <p:cNvSpPr/>
          <p:nvPr/>
        </p:nvSpPr>
        <p:spPr>
          <a:xfrm>
            <a:off x="9979402" y="4744164"/>
            <a:ext cx="73908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個 Tile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，VCK190 上以 50 × 8 方格排列</a:t>
            </a:r>
            <a:endParaRPr lang="en-US" sz="2250" dirty="0"/>
          </a:p>
        </p:txBody>
      </p:sp>
      <p:sp>
        <p:nvSpPr>
          <p:cNvPr id="172" name="Shape 170"/>
          <p:cNvSpPr/>
          <p:nvPr/>
        </p:nvSpPr>
        <p:spPr>
          <a:xfrm>
            <a:off x="9636502" y="6037662"/>
            <a:ext cx="7508498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73" name="Text 171"/>
          <p:cNvSpPr/>
          <p:nvPr/>
        </p:nvSpPr>
        <p:spPr>
          <a:xfrm>
            <a:off x="9979402" y="5470924"/>
            <a:ext cx="739085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Tile 跑到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GHz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，搭配 VLIW + SIMD 平行運算</a:t>
            </a:r>
            <a:endParaRPr lang="en-US" sz="2250" dirty="0"/>
          </a:p>
        </p:txBody>
      </p:sp>
      <p:sp>
        <p:nvSpPr>
          <p:cNvPr id="174" name="Shape 172"/>
          <p:cNvSpPr/>
          <p:nvPr/>
        </p:nvSpPr>
        <p:spPr>
          <a:xfrm>
            <a:off x="9636502" y="7178755"/>
            <a:ext cx="7508498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75" name="Text 173"/>
          <p:cNvSpPr/>
          <p:nvPr/>
        </p:nvSpPr>
        <p:spPr>
          <a:xfrm>
            <a:off x="9979402" y="6197680"/>
            <a:ext cx="739085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相鄰 Tile 間有專屬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Interface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，不經記憶體直接傳資料</a:t>
            </a:r>
            <a:endParaRPr lang="en-US" sz="2250" dirty="0"/>
          </a:p>
        </p:txBody>
      </p:sp>
      <p:sp>
        <p:nvSpPr>
          <p:cNvPr id="176" name="Shape 174"/>
          <p:cNvSpPr/>
          <p:nvPr/>
        </p:nvSpPr>
        <p:spPr>
          <a:xfrm>
            <a:off x="9636502" y="8319848"/>
            <a:ext cx="7508498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77" name="Text 175"/>
          <p:cNvSpPr/>
          <p:nvPr/>
        </p:nvSpPr>
        <p:spPr>
          <a:xfrm>
            <a:off x="9979402" y="7338773"/>
            <a:ext cx="739085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Tile 內建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KB SRAM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，單 cycle 存取、無需 refresh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2421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/ TILE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537520" y="914400"/>
            <a:ext cx="383563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單一 TILE 的解剖 · INSIDE ONE TILE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90038" y="1030602"/>
            <a:ext cx="10654962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699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 Tile =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VLIW + SIMD + 32 KB SRAM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374818"/>
            <a:ext cx="6858000" cy="6858000"/>
          </a:xfrm>
          <a:prstGeom prst="roundRect">
            <a:avLst>
              <a:gd name="adj" fmla="val 2222"/>
            </a:avLst>
          </a:prstGeom>
          <a:solidFill>
            <a:srgbClr val="141210"/>
          </a:solidFill>
          <a:ln w="1143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7330" y="2729150"/>
            <a:ext cx="2979420" cy="2979420"/>
          </a:xfrm>
          <a:prstGeom prst="roundRect">
            <a:avLst>
              <a:gd name="adj" fmla="val 3197"/>
            </a:avLst>
          </a:prstGeom>
          <a:solidFill>
            <a:srgbClr val="1D1A17"/>
          </a:solidFill>
          <a:ln w="7620">
            <a:solidFill>
              <a:srgbClr val="3A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5450" y="2927268"/>
            <a:ext cx="266067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95450" y="3233021"/>
            <a:ext cx="266067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Unit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95450" y="5003718"/>
            <a:ext cx="2660676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SIMD 平行運算，1 cycle 多筆 MAC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4667250" y="2729150"/>
            <a:ext cx="2979420" cy="2979420"/>
          </a:xfrm>
          <a:prstGeom prst="roundRect">
            <a:avLst>
              <a:gd name="adj" fmla="val 3197"/>
            </a:avLst>
          </a:prstGeom>
          <a:solidFill>
            <a:srgbClr val="1D1A17"/>
          </a:solidFill>
          <a:ln w="7620">
            <a:solidFill>
              <a:srgbClr val="3A34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5370" y="2927268"/>
            <a:ext cx="266067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65370" y="3233021"/>
            <a:ext cx="266067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Unit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65370" y="5257084"/>
            <a:ext cx="2660676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分支、迴圈、條件判斷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497330" y="5899068"/>
            <a:ext cx="2979420" cy="2979420"/>
          </a:xfrm>
          <a:prstGeom prst="roundRect">
            <a:avLst>
              <a:gd name="adj" fmla="val 3197"/>
            </a:avLst>
          </a:prstGeom>
          <a:solidFill>
            <a:srgbClr val="1D1A17"/>
          </a:solidFill>
          <a:ln w="7620">
            <a:solidFill>
              <a:srgbClr val="3A34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097191"/>
            <a:ext cx="266067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95450" y="6402939"/>
            <a:ext cx="266067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KB SRAM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95450" y="8427002"/>
            <a:ext cx="2660676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memory, 1-cycle access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4667250" y="5899068"/>
            <a:ext cx="2979420" cy="2979420"/>
          </a:xfrm>
          <a:prstGeom prst="roundRect">
            <a:avLst>
              <a:gd name="adj" fmla="val 3197"/>
            </a:avLst>
          </a:prstGeom>
          <a:solidFill>
            <a:srgbClr val="1D1A17"/>
          </a:solidFill>
          <a:ln w="7620">
            <a:solidFill>
              <a:srgbClr val="3A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5370" y="6097191"/>
            <a:ext cx="266067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INTERCONNECT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65370" y="6402939"/>
            <a:ext cx="266067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 + Cascade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865370" y="8427002"/>
            <a:ext cx="2660676" cy="29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搬資料到鄰居 / PL / DDR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486900" y="3077766"/>
            <a:ext cx="7887843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Tile 是一顆 </a:t>
            </a:r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超專業的小型 DSP</a:t>
            </a:r>
            <a:endParaRPr lang="en-US" sz="3450" dirty="0"/>
          </a:p>
        </p:txBody>
      </p:sp>
      <p:sp>
        <p:nvSpPr>
          <p:cNvPr id="24" name="Shape 22"/>
          <p:cNvSpPr/>
          <p:nvPr/>
        </p:nvSpPr>
        <p:spPr>
          <a:xfrm>
            <a:off x="9486900" y="4270293"/>
            <a:ext cx="76581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5" name="Text 23"/>
          <p:cNvSpPr/>
          <p:nvPr/>
        </p:nvSpPr>
        <p:spPr>
          <a:xfrm>
            <a:off x="9486900" y="4506516"/>
            <a:ext cx="17907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7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VLIW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68100" y="4506516"/>
            <a:ext cx="58472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Instruction Word — 一條指令封裝多個運算 slot 同時下發，靠 compiler 安排併行。「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一張菜單同時點好幾道菜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86900" y="5763816"/>
            <a:ext cx="76581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8" name="Text 26"/>
          <p:cNvSpPr/>
          <p:nvPr/>
        </p:nvSpPr>
        <p:spPr>
          <a:xfrm>
            <a:off x="9486900" y="6000034"/>
            <a:ext cx="1790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7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68100" y="6000034"/>
            <a:ext cx="58472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Instruction Multiple Data — 一條指令同時對多筆資料運算。「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一聲令下全班同時做伏地挺身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86900" y="6914434"/>
            <a:ext cx="76581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1" name="Text 29"/>
          <p:cNvSpPr/>
          <p:nvPr/>
        </p:nvSpPr>
        <p:spPr>
          <a:xfrm>
            <a:off x="9486900" y="7150652"/>
            <a:ext cx="1790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7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GHz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68100" y="7150652"/>
            <a:ext cx="58472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最高時脈，搭配 SIMD 達到極高 MAC throughput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86900" y="7722152"/>
            <a:ext cx="765810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34" name="Text 32"/>
          <p:cNvSpPr/>
          <p:nvPr/>
        </p:nvSpPr>
        <p:spPr>
          <a:xfrm>
            <a:off x="9486900" y="7958375"/>
            <a:ext cx="1790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spc="7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468100" y="7958375"/>
            <a:ext cx="58472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相鄰 Tile 間的直接資料管線，不經 memory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1254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/ FIT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20898" y="914400"/>
            <a:ext cx="548856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AIE 適合 / 不適合的工作 · WHAT FITS, WHAT DOESN'T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978200" y="1030602"/>
            <a:ext cx="91668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699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不是萬靈丹 ——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規律 + 可向量化的數學才划算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235101"/>
            <a:ext cx="7772400" cy="7137499"/>
          </a:xfrm>
          <a:prstGeom prst="roundRect">
            <a:avLst>
              <a:gd name="adj" fmla="val 1868"/>
            </a:avLst>
          </a:prstGeom>
          <a:solidFill>
            <a:srgbClr val="2A1810"/>
          </a:solidFill>
          <a:ln w="7620">
            <a:solidFill>
              <a:srgbClr val="8A4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9720" y="2699919"/>
            <a:ext cx="712652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569720" y="3614319"/>
            <a:ext cx="7126529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3450" b="1" spc="-6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 </a:t>
            </a:r>
            <a:pPr algn="l" indent="0" marL="0">
              <a:lnSpc>
                <a:spcPct val="14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Great fit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69695" y="4554438"/>
            <a:ext cx="7195185" cy="3249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/ FIR / 矩陣乘法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推理（卷積、ReLU）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波束成形 (Beamforming)、雷達訊號處理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任何「串流 + 可向量化」的 DSP pipeline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72600" y="2235101"/>
            <a:ext cx="7772400" cy="7137499"/>
          </a:xfrm>
          <a:prstGeom prst="roundRect">
            <a:avLst>
              <a:gd name="adj" fmla="val 1868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9320" y="2699919"/>
            <a:ext cx="712652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9799320" y="3614319"/>
            <a:ext cx="7126529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3450" b="1" spc="-6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不適合 · Poor fit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9599295" y="4554438"/>
            <a:ext cx="7195185" cy="3249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高度控制流程的運算（分支多）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不規則記憶體存取 pattern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需要作業系統 / 系統呼叫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6E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單一、不連續、非串流式的快速運算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00893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CASE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04336" y="914400"/>
            <a:ext cx="354603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應用案例先導 · WHY THIS PROJECT?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75688" y="1030602"/>
            <a:ext cx="11169312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09727"/>
            <a:ext cx="8120419" cy="17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AIE 加速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 × 1024 2D FFT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4116763"/>
            <a:ext cx="6867525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選一個經典的高吞吐量 DSP 演算法當案例。完整 end-to-end 架構：PS 排程 + PL 資料搬運 + AIE 計算，三層完美分工。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5830309"/>
            <a:ext cx="6867525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Cooley-Tukey 演算法把 2D FFT 拆解成兩個獨立的 1D FFT graph： </a:t>
            </a:r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FFT </a:t>
            </a:r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</a:t>
            </a:r>
            <a:pPr algn="l" indent="0" marL="0">
              <a:lnSpc>
                <a:spcPct val="145000"/>
              </a:lnSpc>
              <a:buNone/>
            </a:pPr>
            <a:r>
              <a:rPr lang="en-US" sz="25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FFT </a:t>
            </a:r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7581956"/>
            <a:ext cx="19050" cy="1110615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1352550" y="7620056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52550" y="7925809"/>
            <a:ext cx="23421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52550" y="8405868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47147" y="7581956"/>
            <a:ext cx="19050" cy="1110615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4056698" y="7620056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FFT SIZE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56698" y="7925809"/>
            <a:ext cx="23421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1024-pt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56698" y="8405868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stages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1295" y="7581956"/>
            <a:ext cx="19050" cy="1110615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760845" y="7620056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35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60845" y="7925809"/>
            <a:ext cx="234219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VCK190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0845" y="8405868"/>
            <a:ext cx="23421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XCVC1902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36502" y="2585442"/>
            <a:ext cx="7508498" cy="5631359"/>
          </a:xfrm>
          <a:prstGeom prst="roundRect">
            <a:avLst>
              <a:gd name="adj" fmla="val 2368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4745" y="2897860"/>
            <a:ext cx="5151954" cy="50064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82222" y="8303475"/>
            <a:ext cx="599007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54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AIE flexible interconnect · memory / stream / cascade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47524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DATAFLOW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770644" y="666750"/>
            <a:ext cx="349661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互動式資料流圖 · CLICK ANY BLOCK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394014" y="782952"/>
            <a:ext cx="10750987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2049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資料以 DDR 為中心流動 ——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不在資料路徑上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1987451"/>
            <a:ext cx="16002000" cy="7632799"/>
          </a:xfrm>
          <a:prstGeom prst="roundRect">
            <a:avLst>
              <a:gd name="adj" fmla="val 1997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73357" y="2147469"/>
            <a:ext cx="251162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點擊區塊查看 · </a:t>
            </a:r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切換步驟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20" y="2376069"/>
            <a:ext cx="14919960" cy="5182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4020" y="7729538"/>
            <a:ext cx="5944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507040" y="7729538"/>
            <a:ext cx="121164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(FPGA)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47279" y="7729538"/>
            <a:ext cx="5944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70299" y="7729538"/>
            <a:ext cx="203460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(control only)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557701" y="7729538"/>
            <a:ext cx="416766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※ 三個 DDR 區塊代表同一塊物理記憶體的不同狀態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684020" y="8149586"/>
            <a:ext cx="14919960" cy="1082040"/>
          </a:xfrm>
          <a:prstGeom prst="roundRect">
            <a:avLst>
              <a:gd name="adj" fmla="val 8803"/>
            </a:avLst>
          </a:prstGeom>
          <a:solidFill>
            <a:srgbClr val="0A0A0A"/>
          </a:solidFill>
          <a:ln w="7620">
            <a:solidFill>
              <a:srgbClr val="3A34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58340" y="8362950"/>
            <a:ext cx="796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tip 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895719" y="8362950"/>
            <a:ext cx="26489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點擊上方任一區塊查看該步驟說明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958340" y="8708706"/>
            <a:ext cx="1480246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資料流：</a:t>
            </a:r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D97757"/>
                </a:solidFill>
                <a:highlight>
                  <a:srgbClr val="1D1A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DDR → PL → AIE → PL → DDR → PL → AIE → DDR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。PS 只在背後下命令，不碰真正的資料。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00893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/ PS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04336" y="762000"/>
            <a:ext cx="256567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OF 3 · 指揮中心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2414" y="878202"/>
            <a:ext cx="12122587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277299"/>
            <a:ext cx="3619500" cy="3619500"/>
          </a:xfrm>
          <a:prstGeom prst="roundRect">
            <a:avLst>
              <a:gd name="adj" fmla="val 3684"/>
            </a:avLst>
          </a:prstGeom>
          <a:solidFill>
            <a:srgbClr val="2A1810"/>
          </a:solidFill>
          <a:ln w="1143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9230" y="1574481"/>
            <a:ext cx="30766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指揮中心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9230" y="1944049"/>
            <a:ext cx="307665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System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9230" y="3361372"/>
            <a:ext cx="307665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39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9750" dirty="0"/>
          </a:p>
        </p:txBody>
      </p:sp>
      <p:sp>
        <p:nvSpPr>
          <p:cNvPr id="9" name="Text 7"/>
          <p:cNvSpPr/>
          <p:nvPr/>
        </p:nvSpPr>
        <p:spPr>
          <a:xfrm>
            <a:off x="5295900" y="2510251"/>
            <a:ext cx="12204573" cy="870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下命令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5295900" y="3666172"/>
            <a:ext cx="117729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Cortex-A72 上跑 Linux，透過 XRT runtime 載入 .xclbin、啟動 AIE graph、觸發 PL kernel。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不在資料路徑上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，只負責背後排程。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5277799"/>
            <a:ext cx="7810500" cy="5332095"/>
          </a:xfrm>
          <a:prstGeom prst="roundRect">
            <a:avLst>
              <a:gd name="adj" fmla="val 2501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1620" y="5628322"/>
            <a:ext cx="724425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本案例的 PS 具體任務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531620" y="6786563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4" name="Text 12"/>
          <p:cNvSpPr/>
          <p:nvPr/>
        </p:nvSpPr>
        <p:spPr>
          <a:xfrm>
            <a:off x="2065020" y="6238875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Linux 並執行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host.exe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31620" y="7475218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6" name="Text 14"/>
          <p:cNvSpPr/>
          <p:nvPr/>
        </p:nvSpPr>
        <p:spPr>
          <a:xfrm>
            <a:off x="2065020" y="6927531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SD 卡讀入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MB 測試輸入陣列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 DDR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531620" y="8163874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8" name="Text 16"/>
          <p:cNvSpPr/>
          <p:nvPr/>
        </p:nvSpPr>
        <p:spPr>
          <a:xfrm>
            <a:off x="2065020" y="7616186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XRT API 載入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.xclbin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531620" y="8852534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20" name="Text 18"/>
          <p:cNvSpPr/>
          <p:nvPr/>
        </p:nvSpPr>
        <p:spPr>
          <a:xfrm>
            <a:off x="2065020" y="8304847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AIE Graph，在迴圈中觸發 PL 搬運任務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2065020" y="8993502"/>
            <a:ext cx="6710858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等所有 kernel 算完，把結果寫回 SD 卡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334500" y="5277799"/>
            <a:ext cx="7810500" cy="2534603"/>
          </a:xfrm>
          <a:prstGeom prst="roundRect">
            <a:avLst>
              <a:gd name="adj" fmla="val 5261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5552122"/>
            <a:ext cx="740123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主要原始碼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46920" y="6067425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sw/host.cpp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46920" y="6589393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sw/aie_control_xrt.cpp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6920" y="7111361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sw/fft_acc_mult_twd.cpp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34500" y="8079102"/>
            <a:ext cx="7810500" cy="2530793"/>
          </a:xfrm>
          <a:prstGeom prst="roundRect">
            <a:avLst>
              <a:gd name="adj" fmla="val 5269"/>
            </a:avLst>
          </a:prstGeom>
          <a:solidFill>
            <a:srgbClr val="2A1810"/>
          </a:solidFill>
          <a:ln w="7620">
            <a:solidFill>
              <a:srgbClr val="8A4A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8353425"/>
            <a:ext cx="740123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關鍵概念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46920" y="8735374"/>
            <a:ext cx="740123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是異質系統的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大腦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，不是搬運工。所有 PS ↔ AIE / PL 的互動都透過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XRT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API 完成：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device.load_xclbin()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xrt::kernel()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.start()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.wait()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00893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/ PL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304336" y="762000"/>
            <a:ext cx="256567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OF 3 · 搬運專員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2414" y="878202"/>
            <a:ext cx="12122587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329807"/>
            <a:ext cx="3619500" cy="3619500"/>
          </a:xfrm>
          <a:prstGeom prst="roundRect">
            <a:avLst>
              <a:gd name="adj" fmla="val 3684"/>
            </a:avLst>
          </a:prstGeom>
          <a:solidFill>
            <a:srgbClr val="2A1810"/>
          </a:solidFill>
          <a:ln w="1143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9230" y="1626989"/>
            <a:ext cx="30766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搬運專員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9230" y="1996557"/>
            <a:ext cx="307665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Programmable Logic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9230" y="3413880"/>
            <a:ext cx="307665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39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9750" dirty="0"/>
          </a:p>
        </p:txBody>
      </p:sp>
      <p:sp>
        <p:nvSpPr>
          <p:cNvPr id="9" name="Text 7"/>
          <p:cNvSpPr/>
          <p:nvPr/>
        </p:nvSpPr>
        <p:spPr>
          <a:xfrm>
            <a:off x="5295900" y="1277299"/>
            <a:ext cx="12204573" cy="1702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搬資料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而且不只是笨笨地搬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5295900" y="3265284"/>
            <a:ext cx="11772900" cy="1398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把 DDR 上 memory-mapped 的資料轉成 AXI-Stream 餵 AIE，再把 AIE 算完的結果寫回 DDR。它真正強大的地方在於：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能在搬運過程中做硬體層的位址運算與轉置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5330312"/>
            <a:ext cx="7810500" cy="4932045"/>
          </a:xfrm>
          <a:prstGeom prst="roundRect">
            <a:avLst>
              <a:gd name="adj" fmla="val 2704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1620" y="5680830"/>
            <a:ext cx="724425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本案例的 PL 具體任務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531620" y="6839066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4" name="Text 12"/>
          <p:cNvSpPr/>
          <p:nvPr/>
        </p:nvSpPr>
        <p:spPr>
          <a:xfrm>
            <a:off x="2065020" y="6291379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mm2s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從 DDR 抓 column 資料，串流給 AIE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31620" y="7527722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6" name="Text 14"/>
          <p:cNvSpPr/>
          <p:nvPr/>
        </p:nvSpPr>
        <p:spPr>
          <a:xfrm>
            <a:off x="2065020" y="6980034"/>
            <a:ext cx="67108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s2mm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接住 AIE 算完的 column 結果，寫回 DDR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065020" y="7668699"/>
            <a:ext cx="671085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strided_mm2s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用跳躍式位址（stride=1024）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邊讀邊轉置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，餵給 AIE 做 row FFT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0" y="5330312"/>
            <a:ext cx="7810500" cy="2534603"/>
          </a:xfrm>
          <a:prstGeom prst="roundRect">
            <a:avLst>
              <a:gd name="adj" fmla="val 5261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5604630"/>
            <a:ext cx="740123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主要原始碼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46920" y="6119929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hls/mm2s.cpp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46920" y="6641897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hls/s2mm.cpp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6920" y="7163874"/>
            <a:ext cx="740123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hls/fft_strided_mm2s.cpp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34500" y="8131611"/>
            <a:ext cx="7810500" cy="2130742"/>
          </a:xfrm>
          <a:prstGeom prst="roundRect">
            <a:avLst>
              <a:gd name="adj" fmla="val 6258"/>
            </a:avLst>
          </a:prstGeom>
          <a:solidFill>
            <a:srgbClr val="2A1810"/>
          </a:solidFill>
          <a:ln w="7620">
            <a:solidFill>
              <a:srgbClr val="8A4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8405929"/>
            <a:ext cx="740123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強大之處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46920" y="8787887"/>
            <a:ext cx="74012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strided_mm2s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一邊讀、一邊在硬體層直接轉置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，立刻用無延遲串流餵給 AIE。這種客製化 Datapath 只有 PL 做得到。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12549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/ AIE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420898" y="762000"/>
            <a:ext cx="256567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OF 3 · 計算引擎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38976" y="878207"/>
            <a:ext cx="12006024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277308"/>
            <a:ext cx="3619500" cy="3619500"/>
          </a:xfrm>
          <a:prstGeom prst="roundRect">
            <a:avLst>
              <a:gd name="adj" fmla="val 3684"/>
            </a:avLst>
          </a:prstGeom>
          <a:solidFill>
            <a:srgbClr val="2A1810"/>
          </a:solidFill>
          <a:ln w="1143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9230" y="1574490"/>
            <a:ext cx="3076651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144" kern="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計算引擎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9230" y="1944058"/>
            <a:ext cx="3076651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spc="-21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9230" y="3361376"/>
            <a:ext cx="3076651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39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</a:t>
            </a:r>
            <a:endParaRPr lang="en-US" sz="9750" dirty="0"/>
          </a:p>
        </p:txBody>
      </p:sp>
      <p:sp>
        <p:nvSpPr>
          <p:cNvPr id="9" name="Text 7"/>
          <p:cNvSpPr/>
          <p:nvPr/>
        </p:nvSpPr>
        <p:spPr>
          <a:xfrm>
            <a:off x="5295900" y="2510256"/>
            <a:ext cx="12204573" cy="870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189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算數學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5295900" y="3666176"/>
            <a:ext cx="1177290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兩階段 Graph，分別跑在不同的 Tile 區塊，可以管線化重疊執行。Compiler 自動把 kernel 映射到實體 Tile、規劃硬體繞線。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5277808"/>
            <a:ext cx="7810500" cy="5177969"/>
          </a:xfrm>
          <a:prstGeom prst="roundRect">
            <a:avLst>
              <a:gd name="adj" fmla="val 2575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1620" y="5628326"/>
            <a:ext cx="724425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本案例的 AIE 具體任務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531620" y="7200900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4" name="Text 12"/>
          <p:cNvSpPr/>
          <p:nvPr/>
        </p:nvSpPr>
        <p:spPr>
          <a:xfrm>
            <a:off x="2065020" y="6238875"/>
            <a:ext cx="671085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 階段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Tile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(24,0)–(27,2)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收串流 → 1024-pt FFT → 乘 twiddle → 丟出串流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31620" y="8303902"/>
            <a:ext cx="7033260" cy="9525"/>
          </a:xfrm>
          <a:prstGeom prst="rect">
            <a:avLst/>
          </a:prstGeom>
          <a:solidFill>
            <a:srgbClr val="2A2622"/>
          </a:solidFill>
          <a:ln/>
        </p:spPr>
      </p:sp>
      <p:sp>
        <p:nvSpPr>
          <p:cNvPr id="16" name="Text 14"/>
          <p:cNvSpPr/>
          <p:nvPr/>
        </p:nvSpPr>
        <p:spPr>
          <a:xfrm>
            <a:off x="2065020" y="7341877"/>
            <a:ext cx="671085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階段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Tile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(24,3)–(27,4)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收轉置串流 → 1024-pt FFT → 經 GMIO 直寫 DDR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065020" y="8444871"/>
            <a:ext cx="6710858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 與 Row 不同 Tile，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可管線化重疊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0" y="5277808"/>
            <a:ext cx="7810500" cy="2780526"/>
          </a:xfrm>
          <a:prstGeom prst="roundRect">
            <a:avLst>
              <a:gd name="adj" fmla="val 4111"/>
            </a:avLst>
          </a:prstGeom>
          <a:solidFill>
            <a:srgbClr val="0D1117"/>
          </a:solidFill>
          <a:ln w="7620">
            <a:solidFill>
              <a:srgbClr val="2A262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6420" y="5399726"/>
            <a:ext cx="7566660" cy="253668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334500" y="8325036"/>
            <a:ext cx="7810500" cy="2130742"/>
          </a:xfrm>
          <a:prstGeom prst="roundRect">
            <a:avLst>
              <a:gd name="adj" fmla="val 6258"/>
            </a:avLst>
          </a:prstGeom>
          <a:solidFill>
            <a:srgbClr val="2A1810"/>
          </a:solidFill>
          <a:ln w="7620">
            <a:solidFill>
              <a:srgbClr val="8A4A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46920" y="8599354"/>
            <a:ext cx="740123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 最佳化策略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646920" y="8981303"/>
            <a:ext cx="740123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Compiler 把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互相通訊的 Tile 擺在鄰近位置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，利用直連的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Interface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打造零延遲流水線。圖中彩色區塊就是 placement + routing 後實際被使用的 Tile。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94161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OPTIMIZATION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3237012" y="914400"/>
            <a:ext cx="4718603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三個正交的優化旋鈕 · THREE ORTHOGONAL KNOBS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046780" y="1030607"/>
            <a:ext cx="9098221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8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23× 加速拆開：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三招疊加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235101"/>
            <a:ext cx="1373505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這三招解決的瓶頸不同、可獨立或組合啟用。組合起來就是 Block 1 → 2 → 3 的累積優化。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3221896"/>
            <a:ext cx="5156180" cy="6150709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3520" y="3610515"/>
            <a:ext cx="458879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01 · SPACE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93520" y="4011513"/>
            <a:ext cx="4588794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空間平行化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93520" y="4857341"/>
            <a:ext cx="458879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參數 ·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N_PARAL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3520" y="5463127"/>
            <a:ext cx="4588794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同一條 pipeline 複製為 N 份並行執行，吞吐量近似線性提升至 N 倍。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93520" y="7995289"/>
            <a:ext cx="445514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3" name="Text 11"/>
          <p:cNvSpPr/>
          <p:nvPr/>
        </p:nvSpPr>
        <p:spPr>
          <a:xfrm>
            <a:off x="1493520" y="8212459"/>
            <a:ext cx="458879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成本：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Tile 佔用量 × N。 需引入橋接 kernel (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distributer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處理分流與合流。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65880" y="3221896"/>
            <a:ext cx="5156180" cy="6150709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6401" y="3610515"/>
            <a:ext cx="458879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02 · TIME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16401" y="4011513"/>
            <a:ext cx="4588794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時間批次化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916401" y="4857341"/>
            <a:ext cx="458879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參數 ·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N_BATCH_FFT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16401" y="5463127"/>
            <a:ext cx="4588794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 pipeline 連續處理 N 筆資料後才回報，攤平 kernel 啟停與通訊 overhead。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916401" y="8252464"/>
            <a:ext cx="445514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0" name="Text 18"/>
          <p:cNvSpPr/>
          <p:nvPr/>
        </p:nvSpPr>
        <p:spPr>
          <a:xfrm>
            <a:off x="6916401" y="8469634"/>
            <a:ext cx="458879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成本：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共用同一組 Tile，幾無額外硬體成本。 單筆延遲略增。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988760" y="3221896"/>
            <a:ext cx="5156240" cy="6150709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39281" y="3610515"/>
            <a:ext cx="458885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6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03 · CONTROL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39281" y="4011513"/>
            <a:ext cx="4588856" cy="826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Scheduling </a:t>
            </a:r>
            <a:pPr algn="l" indent="0" marL="0">
              <a:lnSpc>
                <a:spcPct val="115000"/>
              </a:lnSpc>
              <a:buNone/>
            </a:pPr>
            <a:r>
              <a:rPr lang="en-US" sz="2700" b="1" spc="-54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硬體自排程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339281" y="4857341"/>
            <a:ext cx="4588856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由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D97757"/>
                </a:solidFill>
                <a:highlight>
                  <a:srgbClr val="0A0A0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</a:t>
            </a:r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orchestration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39281" y="5463127"/>
            <a:ext cx="458885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8D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不再讓 PS 軟體輪流觸發兩階段；改由 PL 在 AIE 計算當前批次時同步 prefetch 下一批。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339281" y="7995289"/>
            <a:ext cx="44552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7" name="Text 25"/>
          <p:cNvSpPr/>
          <p:nvPr/>
        </p:nvSpPr>
        <p:spPr>
          <a:xfrm>
            <a:off x="12339281" y="8212459"/>
            <a:ext cx="458885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效果：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/ Row 兩階段 pipeline 重疊。 消除 PS 介入的 XRT round-trip overhead。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24212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RESULT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537520" y="914400"/>
            <a:ext cx="244911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效能實證 · THE NUMBERS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39035" y="1030607"/>
            <a:ext cx="12005965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8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160 ms 到 6.8 ms ——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23 倍速度榨出來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3472104"/>
            <a:ext cx="8104783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8500" b="1" spc="-1425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 </a:t>
            </a:r>
            <a:pPr algn="l" indent="0" marL="0">
              <a:lnSpc>
                <a:spcPct val="85000"/>
              </a:lnSpc>
              <a:buNone/>
            </a:pPr>
            <a:r>
              <a:rPr lang="en-US" sz="16500" b="1" spc="-1425" kern="0" dirty="0">
                <a:solidFill>
                  <a:srgbClr val="E89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8500" dirty="0"/>
          </a:p>
        </p:txBody>
      </p:sp>
      <p:sp>
        <p:nvSpPr>
          <p:cNvPr id="7" name="Text 5"/>
          <p:cNvSpPr/>
          <p:nvPr/>
        </p:nvSpPr>
        <p:spPr>
          <a:xfrm>
            <a:off x="1143000" y="6815379"/>
            <a:ext cx="8104783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FFT 總耗時：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 ms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 ms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35000"/>
              </a:lnSpc>
              <a:buNone/>
            </a:pPr>
            <a:r>
              <a:rPr lang="en-US" sz="2550" spc="-25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ms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7804072"/>
            <a:ext cx="810478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相對於 Block 1 (無任何優化) 的基準線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21322" y="2235101"/>
            <a:ext cx="7523679" cy="7137499"/>
          </a:xfrm>
          <a:prstGeom prst="roundRect">
            <a:avLst>
              <a:gd name="adj" fmla="val 1868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33741" y="3081881"/>
            <a:ext cx="6898839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48041" y="2699928"/>
            <a:ext cx="380939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· 配置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822681" y="2699928"/>
            <a:ext cx="140970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308581" y="2699928"/>
            <a:ext cx="1409700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BLOCK 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48041" y="3481927"/>
            <a:ext cx="2127707" cy="384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基準線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048041" y="3903883"/>
            <a:ext cx="380939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-7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無任何優化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822681" y="3608608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 ms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308581" y="3608608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1.0×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048041" y="4362041"/>
            <a:ext cx="6670239" cy="76200"/>
          </a:xfrm>
          <a:prstGeom prst="roundRect">
            <a:avLst>
              <a:gd name="adj" fmla="val 50000"/>
            </a:avLst>
          </a:prstGeom>
          <a:solidFill>
            <a:srgbClr val="26221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48041" y="4362041"/>
            <a:ext cx="6670239" cy="76200"/>
          </a:xfrm>
          <a:prstGeom prst="roundRect">
            <a:avLst>
              <a:gd name="adj" fmla="val 50000"/>
            </a:avLst>
          </a:prstGeom>
          <a:solidFill>
            <a:srgbClr val="D97757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48041" y="4944963"/>
            <a:ext cx="2470667" cy="384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混合優化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048041" y="5366928"/>
            <a:ext cx="380939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-7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加 paral + 兩階段加 batch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822681" y="5071653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 ms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308581" y="5071653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~1.9×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48041" y="5825077"/>
            <a:ext cx="6670239" cy="76200"/>
          </a:xfrm>
          <a:prstGeom prst="roundRect">
            <a:avLst>
              <a:gd name="adj" fmla="val 50000"/>
            </a:avLst>
          </a:prstGeom>
          <a:solidFill>
            <a:srgbClr val="26221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8041" y="5825077"/>
            <a:ext cx="3468469" cy="76200"/>
          </a:xfrm>
          <a:prstGeom prst="roundRect">
            <a:avLst>
              <a:gd name="adj" fmla="val 50000"/>
            </a:avLst>
          </a:prstGeom>
          <a:solidFill>
            <a:srgbClr val="D97757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933741" y="6225127"/>
            <a:ext cx="6898839" cy="1306830"/>
          </a:xfrm>
          <a:prstGeom prst="roundRect">
            <a:avLst>
              <a:gd name="adj" fmla="val 7289"/>
            </a:avLst>
          </a:prstGeom>
          <a:solidFill>
            <a:srgbClr val="2A1810"/>
          </a:solidFill>
          <a:ln w="7620">
            <a:solidFill>
              <a:srgbClr val="8A4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5662" y="6415627"/>
            <a:ext cx="2474416" cy="384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 · 全面優化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055662" y="6837583"/>
            <a:ext cx="3793694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-7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Scheduling by PL（硬體自排程）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815060" y="6542308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ms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300960" y="6542308"/>
            <a:ext cx="14097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~23×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055662" y="7295741"/>
            <a:ext cx="6654998" cy="76200"/>
          </a:xfrm>
          <a:prstGeom prst="roundRect">
            <a:avLst>
              <a:gd name="adj" fmla="val 50000"/>
            </a:avLst>
          </a:prstGeom>
          <a:solidFill>
            <a:srgbClr val="26221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5662" y="7295741"/>
            <a:ext cx="282833" cy="76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08428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spc="108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CONCLUSION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3003828" y="914400"/>
            <a:ext cx="2215932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技術總結 · TAKEAWAYS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72160" y="1030607"/>
            <a:ext cx="11772841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429708"/>
            <a:ext cx="16482060" cy="672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 AIE 值得學？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因為它代表「計算下沉到邊緣」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235101"/>
            <a:ext cx="5156180" cy="5514440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3520" y="2585628"/>
            <a:ext cx="4588794" cy="23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· 運算核心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93520" y="2988534"/>
            <a:ext cx="4588794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VLIW SIMD 向量處理器陣列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93520" y="3822920"/>
            <a:ext cx="4588794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Versal 內建的高吞吐 DSP 引擎。每個 Tile 32 KB SRAM 單 cycle 存取，是為串流式演算法量身打造。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6565880" y="2235101"/>
            <a:ext cx="5156180" cy="5514440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6401" y="2585628"/>
            <a:ext cx="4588794" cy="23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· 系統分工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16401" y="2988534"/>
            <a:ext cx="4588794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指揮 → PL 搬運 → AIE 計算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16401" y="3822920"/>
            <a:ext cx="4588794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三層各司其職、互不越界。 </a:t>
            </a:r>
            <a:pPr algn="l" indent="0" marL="0">
              <a:lnSpc>
                <a:spcPct val="150000"/>
              </a:lnSpc>
              <a:buNone/>
            </a:pPr>
            <a:r>
              <a:rPr lang="en-US" sz="17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的 strided_mm2s 邊讀邊轉置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是異質系統設計的點睛之筆。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988760" y="2235101"/>
            <a:ext cx="5156240" cy="5514440"/>
          </a:xfrm>
          <a:prstGeom prst="roundRect">
            <a:avLst>
              <a:gd name="adj" fmla="val 2586"/>
            </a:avLst>
          </a:prstGeom>
          <a:solidFill>
            <a:srgbClr val="141210"/>
          </a:solidFill>
          <a:ln w="7620">
            <a:solidFill>
              <a:srgbClr val="2A26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39281" y="2585628"/>
            <a:ext cx="4588856" cy="2314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47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· 效能實證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39281" y="2988534"/>
            <a:ext cx="4588856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48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23× 加速 160 ms → 6.8 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39281" y="3822920"/>
            <a:ext cx="4588856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+ Batching + PL Scheduling 三層優化疊加。資料抵達時機與計算密度同等重要。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143000" y="8130546"/>
            <a:ext cx="16002000" cy="9525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8761102"/>
            <a:ext cx="111865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5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應用目標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18852" y="8481064"/>
            <a:ext cx="14858933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spc="-27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實現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spc="-27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邊緣端即時處理 (Real-time On-board Processing) </a:t>
            </a:r>
            <a:pPr algn="l" indent="0" marL="0">
              <a:lnSpc>
                <a:spcPct val="130000"/>
              </a:lnSpc>
              <a:buNone/>
            </a:pPr>
            <a:r>
              <a:rPr lang="en-US" sz="2700" spc="-27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，讓 SAR / 通訊基站等海量感測資料能在板端第一時間消化。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97757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298864"/>
            <a:ext cx="6630534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252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VITIS-RDA-VERSAL · END OF BRIEFING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011332"/>
            <a:ext cx="4365171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0" b="1" spc="-540" kern="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143000" y="4821082"/>
            <a:ext cx="9375214" cy="1177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下命令 · PL 搬資料 · </a:t>
            </a:r>
            <a:pPr algn="l" indent="0" marL="0">
              <a:lnSpc>
                <a:spcPct val="130000"/>
              </a:lnSpc>
              <a:buNone/>
            </a:pPr>
            <a:r>
              <a:rPr lang="en-US" sz="34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 算數學 </a:t>
            </a:r>
            <a:pPr algn="l" indent="0" marL="0">
              <a:lnSpc>
                <a:spcPct val="130000"/>
              </a:lnSpc>
              <a:buNone/>
            </a:pPr>
            <a:r>
              <a:rPr lang="en-US" sz="3450" dirty="0">
                <a:solidFill>
                  <a:srgbClr val="A8A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三層各司其職，是 Versal 異質運算的本質。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143000" y="7350919"/>
            <a:ext cx="3108046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7656677"/>
            <a:ext cx="310804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notes.md · code_map.md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22520" y="7350919"/>
            <a:ext cx="5227167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22520" y="7656677"/>
            <a:ext cx="5227167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vitis-rda-versal · replica_fft branch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59440" y="7350919"/>
            <a:ext cx="3390595" cy="28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108" kern="0" dirty="0">
                <a:solidFill>
                  <a:srgbClr val="6E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59440" y="7656677"/>
            <a:ext cx="3390595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8D2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Versal VCK190 / XCVC1902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2026-05-22T04:06:10Z</dcterms:created>
  <dcterms:modified xsi:type="dcterms:W3CDTF">2026-05-22T04:06:10Z</dcterms:modified>
</cp:coreProperties>
</file>